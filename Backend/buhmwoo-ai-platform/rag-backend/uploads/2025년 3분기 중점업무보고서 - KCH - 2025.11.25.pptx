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5"/>
  </p:notesMasterIdLst>
  <p:sldIdLst>
    <p:sldId id="364" r:id="rId3"/>
    <p:sldId id="365" r:id="rId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86" autoAdjust="0"/>
    <p:restoredTop sz="99227" autoAdjust="0"/>
  </p:normalViewPr>
  <p:slideViewPr>
    <p:cSldViewPr snapToGrid="0">
      <p:cViewPr varScale="1">
        <p:scale>
          <a:sx n="115" d="100"/>
          <a:sy n="115" d="100"/>
        </p:scale>
        <p:origin x="211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0282C92-860F-4915-ABA7-C721CB7EC0F8}" type="datetimeFigureOut">
              <a:rPr lang="ko-KR" altLang="en-US"/>
              <a:pPr>
                <a:defRPr/>
              </a:pPr>
              <a:t>2025-11-25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pPr lvl="0"/>
            <a:endParaRPr lang="ko-KR" altLang="en-US" noProof="0" dirty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31" tIns="45715" rIns="91431" bIns="45715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28777C26-8918-41FD-93B6-96B3BBA1AB1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550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0B115-1397-4BC5-98B9-784BBB00B4C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9269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45A9F-B886-4C55-886A-774C5D8FB8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762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F768A-4BD4-4303-9C6E-16EE60F4AAA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835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A1E0A-841F-4373-BBE8-A5A690F4D3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25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E156C2-EB48-4537-ABFE-4346DB6AC1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457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A97C6B-5B69-485F-B6D2-C1F6B9ABBC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1933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4EDE5-6340-44BB-B257-D422D0A640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1008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061DB3-F2C9-4851-86C2-CE2DC7C49E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544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C0E43-6031-47C2-85F3-440E7A36744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479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0C212-D40A-471A-A9F4-AE7415FB6F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831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3CB97-BE1B-4130-8903-C4711E3B37A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735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301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560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195349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910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908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5516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3095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5974285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1806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9263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836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/>
            </a:lvl1pPr>
          </a:lstStyle>
          <a:p>
            <a:pPr>
              <a:defRPr/>
            </a:pPr>
            <a:fld id="{940DAADF-A045-4FC4-9F84-815DC222CAF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ogo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538" y="117475"/>
            <a:ext cx="89058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3"/>
          <p:cNvSpPr txBox="1">
            <a:spLocks noChangeArrowheads="1"/>
          </p:cNvSpPr>
          <p:nvPr userDrawn="1"/>
        </p:nvSpPr>
        <p:spPr bwMode="auto">
          <a:xfrm>
            <a:off x="8353425" y="6629400"/>
            <a:ext cx="7905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lang="ko-KR" altLang="en-US" sz="900" b="1" dirty="0" smtClean="0">
                <a:solidFill>
                  <a:srgbClr val="0066CC"/>
                </a:solidFill>
                <a:latin typeface="Arial" charset="0"/>
                <a:ea typeface="맑은 고딕" pitchFamily="50" charset="-127"/>
              </a:rPr>
              <a:t>정보관리팀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403225" y="1003300"/>
            <a:ext cx="5735638" cy="1282700"/>
          </a:xfrm>
          <a:prstGeom prst="rect">
            <a:avLst/>
          </a:prstGeom>
          <a:solidFill>
            <a:srgbClr val="BBE0E3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endParaRPr lang="ko-KR" altLang="en-US"/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38100" y="163513"/>
            <a:ext cx="3871573" cy="40011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ko-KR" altLang="en-US" sz="2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김충환 </a:t>
            </a:r>
            <a:r>
              <a:rPr lang="en-US" altLang="ko-KR" sz="2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2025</a:t>
            </a:r>
            <a:r>
              <a:rPr lang="ko-KR" altLang="en-US" sz="2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년 </a:t>
            </a:r>
            <a:r>
              <a:rPr lang="ko-KR" altLang="en-US" sz="2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중점업무 </a:t>
            </a:r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보고서</a:t>
            </a:r>
            <a:endParaRPr lang="ko-KR" altLang="en-US" sz="2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8" name="AutoShape 5"/>
          <p:cNvSpPr>
            <a:spLocks noChangeArrowheads="1"/>
          </p:cNvSpPr>
          <p:nvPr/>
        </p:nvSpPr>
        <p:spPr bwMode="auto">
          <a:xfrm rot="10800000">
            <a:off x="407988" y="796925"/>
            <a:ext cx="2952750" cy="261938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816 w 21600"/>
              <a:gd name="T13" fmla="*/ 2816 h 21600"/>
              <a:gd name="T14" fmla="*/ 18784 w 21600"/>
              <a:gd name="T15" fmla="*/ 1878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032" y="21600"/>
                </a:lnTo>
                <a:lnTo>
                  <a:pt x="19568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33FF">
              <a:alpha val="7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ko-KR" altLang="en-US" sz="1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개인별 </a:t>
            </a:r>
            <a:r>
              <a:rPr lang="en-US" altLang="ko-KR" sz="1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MBO </a:t>
            </a:r>
            <a:r>
              <a:rPr lang="ko-KR" altLang="en-US" sz="1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실적현황</a:t>
            </a:r>
          </a:p>
        </p:txBody>
      </p:sp>
      <p:sp>
        <p:nvSpPr>
          <p:cNvPr id="6149" name="Text Box 4"/>
          <p:cNvSpPr txBox="1">
            <a:spLocks noChangeArrowheads="1"/>
          </p:cNvSpPr>
          <p:nvPr/>
        </p:nvSpPr>
        <p:spPr bwMode="auto">
          <a:xfrm>
            <a:off x="3373438" y="996950"/>
            <a:ext cx="29067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000"/>
              <a:t>    0                         50                       100</a:t>
            </a:r>
          </a:p>
        </p:txBody>
      </p:sp>
      <p:graphicFrame>
        <p:nvGraphicFramePr>
          <p:cNvPr id="32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552744"/>
              </p:ext>
            </p:extLst>
          </p:nvPr>
        </p:nvGraphicFramePr>
        <p:xfrm>
          <a:off x="500063" y="1217613"/>
          <a:ext cx="5638800" cy="971550"/>
        </p:xfrm>
        <a:graphic>
          <a:graphicData uri="http://schemas.openxmlformats.org/drawingml/2006/table">
            <a:tbl>
              <a:tblPr/>
              <a:tblGrid>
                <a:gridCol w="3173290"/>
                <a:gridCol w="2465510"/>
              </a:tblGrid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- 2</a:t>
                      </a:r>
                      <a:r>
                        <a:rPr kumimoji="1" lang="ko-KR" altLang="en-US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주연동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소분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계획 프로그램 개발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45" marB="19045" anchor="ctr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45" marB="19045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BW CARE </a:t>
                      </a:r>
                      <a:r>
                        <a:rPr kumimoji="1" lang="en-US" altLang="ko-KR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BackEnd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API 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45" marB="19045" anchor="ctr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533400" indent="-5334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914400" indent="-45720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295400" indent="-3810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45" marB="19045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en-US" altLang="ko-KR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OneAsk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플랫폼 개발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45" marB="19045" anchor="ctr" horzOverflow="overflow">
                    <a:lnL cap="flat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533400" indent="-5334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914400" indent="-45720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295400" indent="-3810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45" marB="19045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62" name="Line 25"/>
          <p:cNvSpPr>
            <a:spLocks noChangeShapeType="1"/>
          </p:cNvSpPr>
          <p:nvPr/>
        </p:nvSpPr>
        <p:spPr bwMode="auto">
          <a:xfrm>
            <a:off x="3665538" y="1370013"/>
            <a:ext cx="2484437" cy="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63" name="Line 25"/>
          <p:cNvSpPr>
            <a:spLocks noChangeShapeType="1"/>
          </p:cNvSpPr>
          <p:nvPr/>
        </p:nvSpPr>
        <p:spPr bwMode="auto">
          <a:xfrm>
            <a:off x="3665538" y="1693863"/>
            <a:ext cx="2484000" cy="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64" name="Text Box 49"/>
          <p:cNvSpPr txBox="1">
            <a:spLocks noChangeArrowheads="1"/>
          </p:cNvSpPr>
          <p:nvPr/>
        </p:nvSpPr>
        <p:spPr bwMode="auto">
          <a:xfrm>
            <a:off x="409575" y="2436813"/>
            <a:ext cx="3990975" cy="368300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1F1F7A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ko-KR" altLang="en-US" sz="1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핵심업무</a:t>
            </a:r>
            <a:r>
              <a:rPr lang="en-US" altLang="ko-KR" sz="1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6165" name="Rectangle 58"/>
          <p:cNvSpPr>
            <a:spLocks noChangeArrowheads="1"/>
          </p:cNvSpPr>
          <p:nvPr/>
        </p:nvSpPr>
        <p:spPr bwMode="auto">
          <a:xfrm>
            <a:off x="406400" y="2860675"/>
            <a:ext cx="3986213" cy="3798888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7A7A99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endParaRPr lang="ko-KR" altLang="en-US"/>
          </a:p>
        </p:txBody>
      </p:sp>
      <p:sp>
        <p:nvSpPr>
          <p:cNvPr id="6166" name="Rectangle 59"/>
          <p:cNvSpPr>
            <a:spLocks noChangeArrowheads="1"/>
          </p:cNvSpPr>
          <p:nvPr/>
        </p:nvSpPr>
        <p:spPr bwMode="auto">
          <a:xfrm>
            <a:off x="523875" y="2917825"/>
            <a:ext cx="3779838" cy="32861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1300" b="1" dirty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300" b="1" dirty="0" smtClean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300" b="1" dirty="0" err="1" smtClean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주연동</a:t>
            </a:r>
            <a:r>
              <a:rPr lang="ko-KR" altLang="en-US" sz="1300" b="1" dirty="0" smtClean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1" dirty="0" err="1" smtClean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소분</a:t>
            </a:r>
            <a:r>
              <a:rPr lang="ko-KR" altLang="en-US" sz="1300" b="1" dirty="0" smtClean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계획 프로그램 개발</a:t>
            </a:r>
            <a:endParaRPr lang="ko-KR" altLang="en-US" sz="1300" b="1" dirty="0">
              <a:solidFill>
                <a:srgbClr val="3333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67" name="Rectangle 60"/>
          <p:cNvSpPr>
            <a:spLocks noChangeArrowheads="1"/>
          </p:cNvSpPr>
          <p:nvPr/>
        </p:nvSpPr>
        <p:spPr bwMode="auto">
          <a:xfrm>
            <a:off x="523875" y="3317875"/>
            <a:ext cx="3784600" cy="325913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 재고 관리 프로세스 추가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재고계산 프로세스 수정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</a:p>
          <a:p>
            <a:pPr eaLnBrk="1" latinLnBrk="1" hangingPunct="1"/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수주부족분 및 종속제품 계획 프로세스 정합성 개선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수주부족 및 종속제품 편성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 수정</a:t>
            </a:r>
            <a:endParaRPr lang="en-US" altLang="ko-KR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작업자 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소분계획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편성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VBA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수정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작업자 편성 및 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소분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수량 수정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계획편성 자료 검토 및 프로그램 수정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편성품목 정보 검토 및 프로그램 수정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테스트 및 요청사항 반영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정상가동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</a:p>
        </p:txBody>
      </p:sp>
      <p:sp>
        <p:nvSpPr>
          <p:cNvPr id="6168" name="Text Box 49"/>
          <p:cNvSpPr txBox="1">
            <a:spLocks noChangeArrowheads="1"/>
          </p:cNvSpPr>
          <p:nvPr/>
        </p:nvSpPr>
        <p:spPr bwMode="auto">
          <a:xfrm>
            <a:off x="4694238" y="2435225"/>
            <a:ext cx="3990975" cy="368300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1F1F7A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ko-KR" altLang="en-US" sz="1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핵심업무</a:t>
            </a:r>
            <a:r>
              <a:rPr lang="en-US" altLang="ko-KR" sz="1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6169" name="Rectangle 58"/>
          <p:cNvSpPr>
            <a:spLocks noChangeArrowheads="1"/>
          </p:cNvSpPr>
          <p:nvPr/>
        </p:nvSpPr>
        <p:spPr bwMode="auto">
          <a:xfrm>
            <a:off x="4691063" y="2859088"/>
            <a:ext cx="3986212" cy="16557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7A7A99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endParaRPr lang="ko-KR" altLang="en-US"/>
          </a:p>
        </p:txBody>
      </p:sp>
      <p:sp>
        <p:nvSpPr>
          <p:cNvPr id="6170" name="Rectangle 59"/>
          <p:cNvSpPr>
            <a:spLocks noChangeArrowheads="1"/>
          </p:cNvSpPr>
          <p:nvPr/>
        </p:nvSpPr>
        <p:spPr bwMode="auto">
          <a:xfrm>
            <a:off x="4808538" y="2916238"/>
            <a:ext cx="3779837" cy="3286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1300" b="1" dirty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300" b="1" dirty="0" smtClean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BW CARE </a:t>
            </a:r>
            <a:r>
              <a:rPr lang="en-US" altLang="ko-KR" sz="1300" b="1" dirty="0" err="1" smtClean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BackEnd</a:t>
            </a:r>
            <a:r>
              <a:rPr lang="en-US" altLang="ko-KR" sz="1300" b="1" dirty="0" smtClean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API </a:t>
            </a:r>
            <a:r>
              <a:rPr lang="ko-KR" altLang="en-US" sz="1300" b="1" dirty="0" smtClean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1300" b="1" dirty="0">
              <a:solidFill>
                <a:srgbClr val="3333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71" name="Rectangle 60"/>
          <p:cNvSpPr>
            <a:spLocks noChangeArrowheads="1"/>
          </p:cNvSpPr>
          <p:nvPr/>
        </p:nvSpPr>
        <p:spPr bwMode="auto">
          <a:xfrm>
            <a:off x="4808538" y="3316288"/>
            <a:ext cx="3784600" cy="11160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Spring Boot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프로젝트 구조 설계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온프레미스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운영환경 구성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인증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(JWT)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권한 분리 구조 구축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멀티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 및 트랜잭션 처리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다양한 업무 연계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모듈화 개발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72" name="Text Box 49"/>
          <p:cNvSpPr txBox="1">
            <a:spLocks noChangeArrowheads="1"/>
          </p:cNvSpPr>
          <p:nvPr/>
        </p:nvSpPr>
        <p:spPr bwMode="auto">
          <a:xfrm>
            <a:off x="4694238" y="4616450"/>
            <a:ext cx="3990975" cy="368300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1F1F7A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ko-KR" altLang="en-US" sz="1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핵심업무</a:t>
            </a:r>
            <a:r>
              <a:rPr lang="en-US" altLang="ko-KR" sz="1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6173" name="Rectangle 58"/>
          <p:cNvSpPr>
            <a:spLocks noChangeArrowheads="1"/>
          </p:cNvSpPr>
          <p:nvPr/>
        </p:nvSpPr>
        <p:spPr bwMode="auto">
          <a:xfrm>
            <a:off x="4691063" y="5040313"/>
            <a:ext cx="3986212" cy="161925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7A7A99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endParaRPr lang="ko-KR" altLang="en-US"/>
          </a:p>
        </p:txBody>
      </p:sp>
      <p:sp>
        <p:nvSpPr>
          <p:cNvPr id="6174" name="Rectangle 59"/>
          <p:cNvSpPr>
            <a:spLocks noChangeArrowheads="1"/>
          </p:cNvSpPr>
          <p:nvPr/>
        </p:nvSpPr>
        <p:spPr bwMode="auto">
          <a:xfrm>
            <a:off x="4808538" y="5097463"/>
            <a:ext cx="3779837" cy="3286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1300" b="1" dirty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300" b="1" dirty="0" err="1" smtClean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OneAsk</a:t>
            </a:r>
            <a:r>
              <a:rPr lang="en-US" altLang="ko-KR" sz="1300" b="1" dirty="0" smtClean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1" dirty="0" smtClean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플랫폼 개발</a:t>
            </a:r>
            <a:endParaRPr lang="ko-KR" altLang="en-US" sz="1300" b="1" dirty="0">
              <a:solidFill>
                <a:srgbClr val="3333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75" name="Rectangle 60"/>
          <p:cNvSpPr>
            <a:spLocks noChangeArrowheads="1"/>
          </p:cNvSpPr>
          <p:nvPr/>
        </p:nvSpPr>
        <p:spPr bwMode="auto">
          <a:xfrm>
            <a:off x="4808538" y="5497513"/>
            <a:ext cx="3784600" cy="1079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 및 설계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환경 설정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 API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테스트 및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KEY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AI/RAG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 환경 설정</a:t>
            </a:r>
            <a:endParaRPr lang="en-US" altLang="ko-KR" sz="1200" b="1" dirty="0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업로드 및 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백터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 테스트</a:t>
            </a:r>
            <a:endParaRPr lang="en-US" altLang="ko-KR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76" name="Line 25"/>
          <p:cNvSpPr>
            <a:spLocks noChangeShapeType="1"/>
          </p:cNvSpPr>
          <p:nvPr/>
        </p:nvSpPr>
        <p:spPr bwMode="auto">
          <a:xfrm>
            <a:off x="3665537" y="2024063"/>
            <a:ext cx="720000" cy="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96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22334"/>
              </p:ext>
            </p:extLst>
          </p:nvPr>
        </p:nvGraphicFramePr>
        <p:xfrm>
          <a:off x="365125" y="819150"/>
          <a:ext cx="8537575" cy="5794375"/>
        </p:xfrm>
        <a:graphic>
          <a:graphicData uri="http://schemas.openxmlformats.org/drawingml/2006/table">
            <a:tbl>
              <a:tblPr/>
              <a:tblGrid>
                <a:gridCol w="4268788"/>
                <a:gridCol w="4268787"/>
              </a:tblGrid>
              <a:tr h="3937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분기 실적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1" marB="1905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향후계획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1" marB="190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/>
                    </a:solidFill>
                  </a:tcPr>
                </a:tc>
              </a:tr>
              <a:tr h="54006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■ 2</a:t>
                      </a:r>
                      <a:r>
                        <a:rPr kumimoji="1" lang="ko-KR" altLang="en-US" sz="12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주연동</a:t>
                      </a: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2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소분</a:t>
                      </a: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계획 프로그램 개발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진행률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:</a:t>
                      </a: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1.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주 재고관리 집계 및 정합성 개선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(2/20)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2.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작업자 </a:t>
                      </a:r>
                      <a:r>
                        <a:rPr kumimoji="1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소분계획편성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VBA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프로그램 수정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(3/27)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3.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계획편성 자료 검토 및 프로그램 수정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(4/22)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4.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프로그램 테스트 및 요청사항 반영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(4/29)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5.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정상가동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(4/30~)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■ 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BW CARE </a:t>
                      </a:r>
                      <a:r>
                        <a:rPr kumimoji="1" lang="en-US" altLang="ko-KR" sz="12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BackEnd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API </a:t>
                      </a: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개발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진행률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:</a:t>
                      </a: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1.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프로젝트 구조 설계 및 운영환경 구성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(4/9)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2.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사용자 인증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및 권한 분리 구조 구축 및 포맷적용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(4/22)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3.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멀티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DB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연동 및 트랜잭션 처리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(5/23)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4.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다양한 업무 연계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API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모듈화 개발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(6/10)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■ </a:t>
                      </a:r>
                      <a:r>
                        <a:rPr kumimoji="1" lang="en-US" altLang="ko-KR" sz="12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OneAsk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플랫폼 개발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진행률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: 36.86%)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1.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기획 및 설계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   -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사업 계획서 작성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(7/24)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2.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개발환경 설정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   -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벡터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DB/GPT API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설정 및 테스트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(9/5)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3. AI/RAG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처리 환경 설정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   -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문서 업로드 및 벡터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DB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화 처리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(9/26)</a:t>
                      </a:r>
                    </a:p>
                  </a:txBody>
                  <a:tcPr marL="19050" marR="19050" marT="19051" marB="1905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533400" indent="-5334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914400" indent="-45720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295400" indent="-3810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■ </a:t>
                      </a:r>
                      <a:r>
                        <a:rPr kumimoji="1" lang="en-US" altLang="ko-KR" sz="12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OneAsk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플랫폼 개발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진행률</a:t>
                      </a:r>
                      <a:r>
                        <a:rPr kumimoji="1" lang="en-US" altLang="ko-K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: 36.86%)</a:t>
                      </a:r>
                      <a:endParaRPr kumimoji="1" lang="en-US" altLang="ko-KR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1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. AI/RAG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처리 환경 설정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   - </a:t>
                      </a:r>
                      <a:r>
                        <a:rPr kumimoji="1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임베딩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모델 적용 및 벡터 저장소 연결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(~10/15)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2. RAG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기술 구현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   - GPT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질의 </a:t>
                      </a:r>
                      <a:r>
                        <a:rPr kumimoji="1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플로우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구현 및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RAG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재처리 설계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(~11/24)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3. BW CARE </a:t>
                      </a:r>
                      <a:r>
                        <a:rPr kumimoji="1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앱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연동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   - API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연결 및 화면 테스트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(~12/5)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   4.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문서관리 기능 구현 및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MVP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기능 테스트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(~12/31)</a:t>
                      </a:r>
                    </a:p>
                  </a:txBody>
                  <a:tcPr marL="19050" marR="19050" marT="19051" marB="1905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179" name="Text Box 3"/>
          <p:cNvSpPr txBox="1">
            <a:spLocks noChangeArrowheads="1"/>
          </p:cNvSpPr>
          <p:nvPr/>
        </p:nvSpPr>
        <p:spPr bwMode="auto">
          <a:xfrm>
            <a:off x="38100" y="163513"/>
            <a:ext cx="3871573" cy="40011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lang="ko-KR" altLang="en-US" sz="2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김충환 </a:t>
            </a:r>
            <a:r>
              <a:rPr lang="en-US" altLang="ko-KR" sz="2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2025</a:t>
            </a:r>
            <a:r>
              <a:rPr lang="ko-KR" altLang="en-US" sz="2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년 </a:t>
            </a:r>
            <a:r>
              <a:rPr lang="ko-KR" altLang="en-US" sz="2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중점업무 </a:t>
            </a:r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보고서</a:t>
            </a:r>
            <a:endParaRPr lang="ko-KR" altLang="en-US" sz="2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4927</TotalTime>
  <Words>471</Words>
  <Application>Microsoft Office PowerPoint</Application>
  <PresentationFormat>화면 슬라이드 쇼(4:3)</PresentationFormat>
  <Paragraphs>65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굴림</vt:lpstr>
      <vt:lpstr>맑은 고딕</vt:lpstr>
      <vt:lpstr>Arial</vt:lpstr>
      <vt:lpstr>Wingdings</vt:lpstr>
      <vt:lpstr>기본 디자인</vt:lpstr>
      <vt:lpstr>1_기본 디자인</vt:lpstr>
      <vt:lpstr>PowerPoint 프레젠테이션</vt:lpstr>
      <vt:lpstr>PowerPoint 프레젠테이션</vt:lpstr>
    </vt:vector>
  </TitlesOfParts>
  <Company>범우(주) 정보관리팀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김남윤</dc:creator>
  <cp:lastModifiedBy>Microsoft 계정</cp:lastModifiedBy>
  <cp:revision>816</cp:revision>
  <cp:lastPrinted>2019-07-04T07:03:40Z</cp:lastPrinted>
  <dcterms:created xsi:type="dcterms:W3CDTF">2010-04-01T11:07:01Z</dcterms:created>
  <dcterms:modified xsi:type="dcterms:W3CDTF">2025-11-25T05:12:09Z</dcterms:modified>
</cp:coreProperties>
</file>